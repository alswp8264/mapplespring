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</p:sldIdLst>
  <p:sldSz cx="12192000" cy="6858000" type="screen4x3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5282F153-3F37-0F45-9E97-73ACFA13230C}" type="datetime1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CE5E9CC1-C706-0F49-92D6-E571CC5EEA8F}" type="slidenum">
              <a:rPr lang="en-US"/>
              <a:t>‹#›</a:t>
            </a:fld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5282F153-3F37-0F45-9E97-73ACFA13230C}" type="datetime1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280160"/>
            <a:ext cx="3840480" cy="3840480"/>
          </a:xfrm>
          <a:prstGeom prst="ellipse">
            <a:avLst/>
          </a:prstGeom>
          <a:solidFill>
            <a:srgbClr val="23335F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2333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574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🍁 Mapple Spring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3154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메이플스토리 캐릭터 정보 조회 · 커뮤니티 웹 서비스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48640" y="3886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93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넥슨 Open API 기반</a:t>
            </a:r>
            <a:pPr indent="0" marL="0">
              <a:buNone/>
            </a:pPr>
            <a:r>
              <a:rPr lang="en-US" sz="1400" dirty="0">
                <a:solidFill>
                  <a:srgbClr val="AEB9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|   Spring MVC + Oracle   |   일반 · 소셜 · 얼굴 인식 로그인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http://localhost:8088/Mapple_Spring/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61872" y="420624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이게 뭐하는 사이트인가요?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110916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메이플스토리 캐릭터 닉네임을 검색하면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4F8E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스탯 · 장비 · 랭킹 · 코디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까지 한눈에 보여주고,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룩북 · 게시판으로 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793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정보를 공유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메이플 정보 + 커뮤니티 사이트입니다.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514344" cy="35661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80360"/>
            <a:ext cx="868680" cy="868680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8803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📈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2874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분석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68680" y="4526280"/>
            <a:ext cx="287426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닉네임 검색 → 스탯 · 장비 · 유니온 · 아티팩트를 시각화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37304" y="2468880"/>
            <a:ext cx="3514344" cy="35661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3064" y="2880360"/>
            <a:ext cx="868680" cy="868680"/>
          </a:xfrm>
          <a:prstGeom prst="ellipse">
            <a:avLst/>
          </a:prstGeom>
          <a:solidFill>
            <a:srgbClr val="F7931E"/>
          </a:solidFill>
          <a:ln/>
        </p:spPr>
      </p:sp>
      <p:sp>
        <p:nvSpPr>
          <p:cNvPr id="13" name="Text 11"/>
          <p:cNvSpPr/>
          <p:nvPr/>
        </p:nvSpPr>
        <p:spPr>
          <a:xfrm>
            <a:off x="4703064" y="28803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🏆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657344" y="3977640"/>
            <a:ext cx="2874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랭킹 &amp; 공지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57344" y="4526280"/>
            <a:ext cx="287426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· 무릉 · 유니온 랭킹, 진행 이벤트 · 캐시샵 정보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25968" y="2468880"/>
            <a:ext cx="3514344" cy="35661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91728" y="2880360"/>
            <a:ext cx="868680" cy="86868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8" name="Text 16"/>
          <p:cNvSpPr/>
          <p:nvPr/>
        </p:nvSpPr>
        <p:spPr>
          <a:xfrm>
            <a:off x="8491728" y="28803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446008" y="3977640"/>
            <a:ext cx="2874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 + 로그인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446008" y="4526280"/>
            <a:ext cx="287426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룩북 공유 · 게시판 · 즐겨찾기 + 3종 로그인 지원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🧱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61872" y="420624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 &amp; 시스템 구성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493776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7373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8E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/ 런타임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5176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21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51760" y="2834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MVC (XML 설정)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3383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영속성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3383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MyBatis + Spring Data JPA / Hibernate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3931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39319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XE (ojdbc11)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4480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View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JSP + JSTL (Jakarta Tags)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" y="50292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1760" y="5029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Apache Tomcat 11 · 포트 8088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55778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연동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51760" y="55778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넥슨 Open API · OAuth2 · Flask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852160" y="1508760"/>
            <a:ext cx="5788152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17920" y="1737360"/>
            <a:ext cx="5056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93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구성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217920" y="2331720"/>
            <a:ext cx="5056632" cy="548640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 w="12700">
            <a:solidFill>
              <a:srgbClr val="E5E9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2331720"/>
            <a:ext cx="5056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(브라우저)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746236" y="2880360"/>
            <a:ext cx="0" cy="32004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3200400"/>
            <a:ext cx="5056632" cy="548640"/>
          </a:xfrm>
          <a:prstGeom prst="roundRect">
            <a:avLst>
              <a:gd name="adj" fmla="val 10000"/>
            </a:avLst>
          </a:prstGeom>
          <a:solidFill>
            <a:srgbClr val="4F8EF7"/>
          </a:solidFill>
          <a:ln w="12700">
            <a:solidFill>
              <a:srgbClr val="E5E9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200400"/>
            <a:ext cx="5056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MVC  +  JSP / JSTL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798564" y="3749040"/>
            <a:ext cx="0" cy="36576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4114800"/>
            <a:ext cx="1161288" cy="1371600"/>
          </a:xfrm>
          <a:prstGeom prst="roundRect">
            <a:avLst>
              <a:gd name="adj" fmla="val 4724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4114800"/>
            <a:ext cx="11612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Oracle DB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097012" y="3749040"/>
            <a:ext cx="0" cy="36576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16368" y="4114800"/>
            <a:ext cx="1161288" cy="1371600"/>
          </a:xfrm>
          <a:prstGeom prst="roundRect">
            <a:avLst>
              <a:gd name="adj" fmla="val 4724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16368" y="4114800"/>
            <a:ext cx="11612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93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넥슨 API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395460" y="3749040"/>
            <a:ext cx="0" cy="36576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14816" y="4114800"/>
            <a:ext cx="1161288" cy="1371600"/>
          </a:xfrm>
          <a:prstGeom prst="roundRect">
            <a:avLst>
              <a:gd name="adj" fmla="val 4724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14816" y="4114800"/>
            <a:ext cx="11612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C8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OAuth2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10693908" y="3749040"/>
            <a:ext cx="0" cy="365760"/>
          </a:xfrm>
          <a:prstGeom prst="line">
            <a:avLst/>
          </a:prstGeom>
          <a:noFill/>
          <a:ln w="15240">
            <a:solidFill>
              <a:srgbClr val="66708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113264" y="4114800"/>
            <a:ext cx="1161288" cy="1371600"/>
          </a:xfrm>
          <a:prstGeom prst="roundRect">
            <a:avLst>
              <a:gd name="adj" fmla="val 4724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113264" y="4114800"/>
            <a:ext cx="11612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5C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Flask 얼굴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217920" y="5715000"/>
            <a:ext cx="5056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얼굴 인식 서버는 Python Flask(포트 5001)로 별도 구동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61872" y="420624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①  캐릭터 조회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61872" y="896112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닉네임 검색 → 넥슨 Open API로 상세 정보를 탭으로 제공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17236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057400"/>
            <a:ext cx="594360" cy="594360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1947672"/>
            <a:ext cx="40370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검색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00200" y="2350008"/>
            <a:ext cx="40370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닉네임 → OCID 조회 → 상세 정보 표시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23076" y="1691640"/>
            <a:ext cx="5317236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97396" y="2057400"/>
            <a:ext cx="594360" cy="594360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13" name="Text 11"/>
          <p:cNvSpPr/>
          <p:nvPr/>
        </p:nvSpPr>
        <p:spPr>
          <a:xfrm>
            <a:off x="6597396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74636" y="1947672"/>
            <a:ext cx="40370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스탯 / 전투력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74636" y="2350008"/>
            <a:ext cx="40370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전투력(억·만 표기), 보스뎀 · 방무 · 최종뎀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5317236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611880"/>
            <a:ext cx="594360" cy="594360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611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🛡️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600200" y="3502152"/>
            <a:ext cx="40370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00200" y="3904488"/>
            <a:ext cx="40370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잠재능력 등급 색상(레전드리~레어), 스타포스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23076" y="3246120"/>
            <a:ext cx="5317236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97396" y="3611880"/>
            <a:ext cx="594360" cy="594360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23" name="Text 21"/>
          <p:cNvSpPr/>
          <p:nvPr/>
        </p:nvSpPr>
        <p:spPr>
          <a:xfrm>
            <a:off x="6597396" y="3611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👗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374636" y="3502152"/>
            <a:ext cx="40370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/ 코디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74636" y="3904488"/>
            <a:ext cx="40370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착용 코디 + 프리셋 1 / 2 / 3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4800600"/>
            <a:ext cx="5317236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" y="5166360"/>
            <a:ext cx="594360" cy="594360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166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600200" y="5056632"/>
            <a:ext cx="40370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유니온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600200" y="5458968"/>
            <a:ext cx="40370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공격대 · 점령 효과, 편성 블록(직업·레벨)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23076" y="4800600"/>
            <a:ext cx="5317236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597396" y="5166360"/>
            <a:ext cx="594360" cy="594360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33" name="Text 31"/>
          <p:cNvSpPr/>
          <p:nvPr/>
        </p:nvSpPr>
        <p:spPr>
          <a:xfrm>
            <a:off x="6597396" y="5166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🏺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374636" y="5056632"/>
            <a:ext cx="40370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아티팩트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374636" y="5458968"/>
            <a:ext cx="40370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유니온 크리스탈 + 효과 + 남은 AP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7931E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🏆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61872" y="420624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②  랭킹 &amp; 공지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17236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920240"/>
            <a:ext cx="45857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8E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랭킹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514600"/>
            <a:ext cx="4539996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· 유니온 ·  · 더 시드 · 업적 랭킹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월드별 · 직업별 필터 (상위 200명 기준)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상위권 직업 분포 TOP 10 시각화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비공개("??") 캐릭터 자동 제외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홈: 인기 캐릭터 TOP 20을 이미지와 함께 표시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23076" y="1600200"/>
            <a:ext cx="5317236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688836" y="1920240"/>
            <a:ext cx="45857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93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📢 공지 (이벤트 · 캐시샵)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34556" y="2514600"/>
            <a:ext cx="4539996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중 이벤트 목록 + 상세(본문 HTML)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캐시샵 판매 공지 목록 + 상세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공지 썸네일을 DB에 캐싱 → API 재호출 최소화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화면 슬라이더로 노출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61872" y="420624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③  커뮤니티 &amp; 개인화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14344" cy="44805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011680"/>
            <a:ext cx="822960" cy="822960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🎨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2874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룩북 / 코디 분석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566160"/>
            <a:ext cx="282854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 코디를 룩북으로 등록 · 공유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좋아요 토글(Ajax)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직업별 · 월드별 코디 통계 분석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37304" y="1600200"/>
            <a:ext cx="3514344" cy="44805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3064" y="2011680"/>
            <a:ext cx="822960" cy="822960"/>
          </a:xfrm>
          <a:prstGeom prst="ellipse">
            <a:avLst/>
          </a:prstGeom>
          <a:solidFill>
            <a:srgbClr val="F7931E"/>
          </a:solidFill>
          <a:ln/>
        </p:spPr>
      </p:sp>
      <p:sp>
        <p:nvSpPr>
          <p:cNvPr id="12" name="Text 10"/>
          <p:cNvSpPr/>
          <p:nvPr/>
        </p:nvSpPr>
        <p:spPr>
          <a:xfrm>
            <a:off x="4703064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📝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657344" y="3017520"/>
            <a:ext cx="2874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게시판 / 댓글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03064" y="3566160"/>
            <a:ext cx="282854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게시글 작성 · 수정 · 삭제 · 페이징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댓글 작성 · 삭제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조회수 관리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25968" y="1600200"/>
            <a:ext cx="3514344" cy="44805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91728" y="2011680"/>
            <a:ext cx="822960" cy="822960"/>
          </a:xfrm>
          <a:prstGeom prst="ellipse">
            <a:avLst/>
          </a:prstGeom>
          <a:solidFill>
            <a:srgbClr val="7C5CFF"/>
          </a:solidFill>
          <a:ln/>
        </p:spPr>
      </p:sp>
      <p:sp>
        <p:nvSpPr>
          <p:cNvPr id="17" name="Text 15"/>
          <p:cNvSpPr/>
          <p:nvPr/>
        </p:nvSpPr>
        <p:spPr>
          <a:xfrm>
            <a:off x="8491728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⭐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446008" y="3017520"/>
            <a:ext cx="2874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개인화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91728" y="3566160"/>
            <a:ext cx="282854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즐겨찾기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 히스토리(공격력 · 보스뎀 추이)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마이페이지 · 정보/비밀번호 수정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61872" y="420624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④  로그인 3종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14344" cy="44805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011680"/>
            <a:ext cx="822960" cy="822960"/>
          </a:xfrm>
          <a:prstGeom prst="ellipse">
            <a:avLst/>
          </a:prstGeom>
          <a:solidFill>
            <a:srgbClr val="4F8EF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🆔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2874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로그인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611880"/>
            <a:ext cx="282854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 / 비밀번호 인증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 + 아이디 중복확인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역할(USER / ADMIN) 구분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37304" y="1600200"/>
            <a:ext cx="3514344" cy="44805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3064" y="2011680"/>
            <a:ext cx="822960" cy="822960"/>
          </a:xfrm>
          <a:prstGeom prst="ellipse">
            <a:avLst/>
          </a:prstGeom>
          <a:solidFill>
            <a:srgbClr val="2C8A4E"/>
          </a:solidFill>
          <a:ln/>
        </p:spPr>
      </p:sp>
      <p:sp>
        <p:nvSpPr>
          <p:cNvPr id="12" name="Text 10"/>
          <p:cNvSpPr/>
          <p:nvPr/>
        </p:nvSpPr>
        <p:spPr>
          <a:xfrm>
            <a:off x="4703064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🌐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57344" y="3017520"/>
            <a:ext cx="2874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소셜 로그인 (OAuth2)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03064" y="3611880"/>
            <a:ext cx="282854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· 카카오 로그인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인증 흐름(비밀번호 미수집)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로그인 시 회원 자동 생성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25968" y="1600200"/>
            <a:ext cx="3514344" cy="44805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12700">
            <a:solidFill>
              <a:srgbClr val="E5E9F1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91728" y="2011680"/>
            <a:ext cx="822960" cy="822960"/>
          </a:xfrm>
          <a:prstGeom prst="ellipse">
            <a:avLst/>
          </a:prstGeom>
          <a:solidFill>
            <a:srgbClr val="F7931E"/>
          </a:solidFill>
          <a:ln/>
        </p:spPr>
      </p:sp>
      <p:sp>
        <p:nvSpPr>
          <p:cNvPr id="17" name="Text 15"/>
          <p:cNvSpPr/>
          <p:nvPr/>
        </p:nvSpPr>
        <p:spPr>
          <a:xfrm>
            <a:off x="8491728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446008" y="3017520"/>
            <a:ext cx="2874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얼굴 인식 로그인 ★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91728" y="3611880"/>
            <a:ext cx="282854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웹캠 캡처 → Flask face_recognition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얼굴과 거리 대조(임계값 0.40)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최근접 매칭 · 다중 얼굴 거부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rd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8778240" cy="5029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" y="5257800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546E7A"/>
                </a:solidFill>
              </a:rPr>
              <a:t>데이터베이스 ERD  (13개 테이블 · PK/FK 관계)</a:t>
            </a:r>
          </a:p>
        </p:txBody>
      </p:sp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0">
    <p:bg>
      <p:bgPr shadeToTitle="0"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793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61872" y="420624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F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한계로 제외 · 보류한 기능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61872" y="896112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코드는 구현 완료 — 외부 서비스의 권한 / 등급 정책만 풀리면 즉시 활성화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Grid>
                <a:gridCol w="2468880"/>
                <a:gridCol w="4754880"/>
                <a:gridCol w="3867912"/>
              </a:tblGrid>
              <a:tr h="841248"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</a:t>
                      </a:r>
                      <a:endParaRPr lang="en-US" sz="1250" dirty="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8a3b2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  <a:endParaRPr lang="en-US" sz="1250" dirty="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8a3b2e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해소 조건</a:t>
                      </a:r>
                      <a:endParaRPr lang="en-US" sz="1250" dirty="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8a3b2e"/>
                    </a:solidFill>
                  </a:tcPr>
                </a:tc>
              </a:tr>
              <a:tr h="841248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8a3b2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헥사(6차) 스킬</a:t>
                      </a:r>
                      <a:endParaRPr lang="en-US" sz="1250" dirty="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넥슨 개발(test)키 → hexamatrix 403 Access Denied</a:t>
                      </a:r>
                      <a:endParaRPr lang="en-US" sz="1200" dirty="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넥슨 앱 정식 전환 후 권한 키 교체</a:t>
                      </a:r>
                      <a:endParaRPr lang="en-US" sz="1200" dirty="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8a3b2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V매트릭스(5차)</a:t>
                      </a:r>
                      <a:endParaRPr lang="en-US" sz="1250" dirty="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beee9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 → vmatrix 403 Access Denied</a:t>
                      </a:r>
                      <a:endParaRPr lang="en-US" sz="1200" dirty="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beee9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넥슨 앱 정식 전환 후 권한 키 교체</a:t>
                      </a:r>
                      <a:endParaRPr lang="en-US" sz="1200" dirty="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beee9"/>
                    </a:solidFill>
                  </a:tcPr>
                </a:tc>
              </a:tr>
              <a:tr h="841248"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8a3b2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본캐 / 부캐</a:t>
                      </a:r>
                      <a:endParaRPr lang="en-US" sz="1250" dirty="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a1f2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넥슨이 타 계정의 부캐 닉네임 미제공(프라이버시)</a:t>
                      </a:r>
                      <a:endParaRPr lang="en-US" sz="1200" dirty="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667085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API 미지원 — 구조적 불가</a:t>
                      </a:r>
                      <a:endParaRPr lang="en-US" sz="1200" dirty="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p>
                      <a:pPr marL="0" indent="0" algn="l">
                        <a:buNone/>
                      </a:pPr>
                      <a:r>
                        <a:rPr sz="1000">
                          <a:solidFill>
                            <a:srgbClr val="FFD540"/>
                          </a:solidFill>
                        </a:rPr>
                        <a:t>밴(Ban) 사유 알림</a:t>
                      </a:r>
                      <a:endParaRPr lang="en-US" sz="1250" dirty="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beee9"/>
                    </a:solidFill>
                  </a:tcPr>
                </a:tc>
                <a:tc>
                  <a:txBody>
                    <a:bodyPr wrap="square"/>
                    <a:p>
                      <a:pPr marL="0" indent="0" algn="l">
                        <a:buNone/>
                      </a:pPr>
                      <a:r>
                        <a:rPr sz="1000">
                          <a:solidFill>
                            <a:srgbClr val="FFD540"/>
                          </a:solidFill>
                        </a:rPr>
                        <a:t>신고 승인 → 게시글 삭제 + 1시간 밴 자동 처리되나, 당사자에게 사유 미통보</a:t>
                      </a:r>
                      <a:endParaRPr lang="en-US" sz="1200" dirty="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beee9"/>
                    </a:solidFill>
                  </a:tcPr>
                </a:tc>
                <a:tc>
                  <a:txBody>
                    <a:bodyPr wrap="square"/>
                    <a:p>
                      <a:pPr marL="0" indent="0" algn="l">
                        <a:buNone/>
                      </a:pPr>
                      <a:r>
                        <a:rPr sz="1000">
                          <a:solidFill>
                            <a:srgbClr val="FFD540"/>
                          </a:solidFill>
                        </a:rPr>
                        <a:t>SMTP 이메일 또는 내부 알림함(NOTIFICATION_TB) 추가</a:t>
                      </a:r>
                      <a:endParaRPr lang="en-US" sz="1200" dirty="0">
                        <a:latin typeface="Malgun Gothic"/>
                        <a:ea typeface="Malgun Gothic"/>
                        <a:cs typeface="Malgun Gothic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e5e9f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beee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3B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넥슨 "개발 단계" 키, 카카오 "개발용" 앱 — 둘 다 외부 서비스의 등급 정책 이슈이며 우리 코드 문제가 아님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206240"/>
            <a:ext cx="4206240" cy="4206240"/>
          </a:xfrm>
          <a:prstGeom prst="ellipse">
            <a:avLst/>
          </a:prstGeom>
          <a:solidFill>
            <a:srgbClr val="2333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🍁 Mapple Spring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캐릭터 조회부터 랭킹 · 코디 · 커뮤니티 · 3종 로그인까지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넥슨 Open API와 Spring MVC로 구현한 메이플 정보 플랫폼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4023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93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11개 영역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4572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0" y="4023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93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10종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91840" y="4572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테이블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35040" y="4023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93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3종 지원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035040" y="4572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78240" y="4023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93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권한 4건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778240" y="45720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7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http://localhost:8088/Mapple_Spring/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0</ep:Words>
  <ep:PresentationFormat>On-screen Show (16:9)</ep:PresentationFormat>
  <ep:Paragraphs>0</ep:Paragraphs>
  <ep:Slides>10</ep:Slides>
  <ep:Notes>12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ep:HeadingPairs>
  <ep:TitlesOfParts>
    <vt:vector size="11" baseType="lpstr">
      <vt:lpstr>Office Theme</vt:lpstr>
      <vt:lpstr>Slide 9</vt:lpstr>
      <vt:lpstr>Slide 10</vt:lpstr>
      <vt:lpstr>Slide 11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2026-06-29T23:15:21.000</dcterms:created>
  <dc:creator>Mapple Spring</dc:creator>
  <cp:lastModifiedBy>Mapple Spring</cp:lastModifiedBy>
  <dcterms:modified xsi:type="dcterms:W3CDTF">2026-07-02T00:52:08.393</dcterms:modified>
  <cp:revision>2</cp:revision>
  <dc:subject>PptxGenJS Presentation</dc:subject>
  <dc:title>Mapple Spring 프로젝트 소개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